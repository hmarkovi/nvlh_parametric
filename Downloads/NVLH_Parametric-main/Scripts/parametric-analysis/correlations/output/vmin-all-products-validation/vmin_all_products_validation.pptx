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FEE3B-97E9-C507-B760-86A402089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3728-51A4-0B10-BC44-D845A421E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7CB9C-B9A9-B703-2303-23685734F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11B8-A981-46BD-9FE1-3AE07AD9DDF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B1C80-3D2A-9139-1780-44BE1DFD3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CB724-E664-BD29-2EE2-E3BB7BCA3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18A38-9A68-4E74-AE75-1CA12220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73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187F6-FD4E-0E00-BA93-AF033F40E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90B62-36B0-1914-7018-094EBC17C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91DE4-6E3D-DF6E-B7B7-9517A761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11B8-A981-46BD-9FE1-3AE07AD9DDF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8F430-C076-255A-F5FF-2050A471C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4EEB7-0F70-B2F9-13A4-14696DB76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18A38-9A68-4E74-AE75-1CA12220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69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E5634-59C4-BF92-FF04-CE96D38C1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DDFA2-BD74-8FC1-5849-DFA08715F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E52E7-C5F1-7472-774F-6340BCE98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11B8-A981-46BD-9FE1-3AE07AD9DDF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EC0C7-8205-3F27-2AF0-036F5BC8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F04BF-40B5-49ED-8B49-AC97C832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18A38-9A68-4E74-AE75-1CA12220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85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7770D-98BA-3463-C02F-D4BE583FF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62C0D-6B61-F1A5-50A4-F30AB5E1CD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6650B-B95F-ED6F-EB06-D4B081B28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54A5A-506A-5DAA-20D8-AB98D029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11B8-A981-46BD-9FE1-3AE07AD9DDF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C049E-5FCF-885F-2E67-F9E683209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41561-D264-59DE-DBB3-34E241E0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18A38-9A68-4E74-AE75-1CA12220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15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5DBD-D4A5-FB5D-8679-CF571FBC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C30ED-4B7D-A6AB-0FA4-92551062F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A05A7-0557-29FE-7CB2-7E89CC738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A2BFB0-54C3-0E3B-79F9-70838FF89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370F39-6EF5-1DDC-5521-353C43AF45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4DCDD-8A31-910C-E204-51A7A10A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11B8-A981-46BD-9FE1-3AE07AD9DDF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5738FF-C4A4-CCB4-3C9B-AA1C59E2B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8AF5EE-3433-9820-8775-CB523B8D1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18A38-9A68-4E74-AE75-1CA12220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03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EBF22-E6E1-0E42-A8F6-CE6B24A5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12F91C-1C53-8BE5-9D4F-8C0DBE8ED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11B8-A981-46BD-9FE1-3AE07AD9DDF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C8F06-2F2C-19E5-3C27-76B9FC84A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A5A3C-435D-2666-1DA1-D03A3BD78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18A38-9A68-4E74-AE75-1CA12220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87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18CB12-2A33-EF5E-A47F-BBF9AB380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11B8-A981-46BD-9FE1-3AE07AD9DDF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6B0C53-7C94-8629-03B1-2EE59D08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F5690-2A03-1086-8A0E-6E46D0230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18A38-9A68-4E74-AE75-1CA12220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6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35F5D-1430-66FA-00EF-2E6F30188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A7D2F-55B8-6765-7C94-8FDD6BB21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3D08A-B266-7966-6560-CF0C5E84B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4A8EE-931C-5142-7586-84598DFA6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11B8-A981-46BD-9FE1-3AE07AD9DDF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0F619-38D8-F052-ADAF-18E4FCB8C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282CA-97F9-571F-C881-D3D2AEA92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18A38-9A68-4E74-AE75-1CA12220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5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F6FC-B134-BA8F-D559-4C771459C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BD2BE4-6D89-6C95-AE78-185C970F75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43FAC-F69D-C64C-572E-B950BDE47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7C71D-DA90-887D-4CC6-4931FA38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11B8-A981-46BD-9FE1-3AE07AD9DDF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584C2-815C-BA9D-B4F3-D46F38F7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616B11-2879-B9E7-4FD2-46021972D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18A38-9A68-4E74-AE75-1CA12220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31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08991-5D74-19B2-AC1F-813272AA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D206E9-2964-608E-154F-A850D6EA9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6FF4B-44B9-63B2-E2BC-6AA580DA2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11B8-A981-46BD-9FE1-3AE07AD9DDF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6D408-A5C3-3068-C592-D7B09D4A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0F693-A4F8-B02F-FAFE-C39F413BA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18A38-9A68-4E74-AE75-1CA12220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45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E4ADDC-2EBE-3B8E-05FB-BB05F20506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48C17-8382-315B-90E1-44088B7DD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B9264-E877-306E-7933-B8120E627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11B8-A981-46BD-9FE1-3AE07AD9DDF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52BDD-7FDF-B4E8-EBC5-9E3DF9EB2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EE70E-4D53-C663-F0E2-AC1C1BBE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18A38-9A68-4E74-AE75-1CA12220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3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FD2B44-5C05-A40F-7573-64701D95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9026C-470B-6C74-518E-AED06B2E3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B340F-9DD1-D901-6F76-0AD630CC14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011B8-A981-46BD-9FE1-3AE07AD9DDF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86A6A-56D5-8CCF-439A-21A727020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40AEC-D3A9-8520-BF7F-6072D61F1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A18A38-9A68-4E74-AE75-1CA12220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22D32E-2417-B674-9EF8-891AE0BEB899}"/>
              </a:ext>
            </a:extLst>
          </p:cNvPr>
          <p:cNvSpPr txBox="1"/>
          <p:nvPr/>
        </p:nvSpPr>
        <p:spPr>
          <a:xfrm>
            <a:off x="381000" y="254000"/>
            <a:ext cx="15240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400" b="1"/>
              <a:t>Vmin Validation Across All Products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13C52D-31EB-CD88-333B-E2A745EEF726}"/>
              </a:ext>
            </a:extLst>
          </p:cNvPr>
          <p:cNvSpPr txBox="1"/>
          <p:nvPr/>
        </p:nvSpPr>
        <p:spPr>
          <a:xfrm>
            <a:off x="508000" y="1270000"/>
            <a:ext cx="14986000" cy="33085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/>
              <a:t>CSV output directory: C:\Users\hmarkovi\Downloads\NVLH_Parametric-main\Scripts\parametric-analysis\correlations\.\output\vmin-all-products-validation</a:t>
            </a:r>
          </a:p>
          <a:p>
            <a:r>
              <a:rPr lang="en-US" sz="1900"/>
              <a:t>Products: NVLHM, NVLHX, NVLPM</a:t>
            </a:r>
          </a:p>
          <a:p>
            <a:r>
              <a:rPr lang="en-US" sz="1900"/>
              <a:t>Rows in fit summary: 267</a:t>
            </a:r>
          </a:p>
          <a:p>
            <a:r>
              <a:rPr lang="en-US" sz="1900"/>
              <a:t>Rows in normalized table: 192</a:t>
            </a:r>
          </a:p>
          <a:p>
            <a:endParaRPr lang="en-US" sz="1900"/>
          </a:p>
          <a:p>
            <a:r>
              <a:rPr lang="en-US" sz="1900"/>
              <a:t>Outlier policy:</a:t>
            </a:r>
          </a:p>
          <a:p>
            <a:r>
              <a:rPr lang="en-US" sz="1900"/>
              <a:t>  Vmin: exclude if &lt; 0 or &gt;= 2</a:t>
            </a:r>
          </a:p>
          <a:p>
            <a:r>
              <a:rPr lang="en-US" sz="1900"/>
              <a:t>  UPM: exclude if outside median +/- 3*sigma</a:t>
            </a:r>
          </a:p>
          <a:p>
            <a:endParaRPr lang="en-US" sz="1900"/>
          </a:p>
          <a:p>
            <a:r>
              <a:rPr lang="en-US" sz="1900"/>
              <a:t>Totals from product summary: Accepted=2336930  VminExcluded=5955  UpmExcluded=10210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EE34A7-F9B4-F01B-A617-B184EE0CB407}"/>
              </a:ext>
            </a:extLst>
          </p:cNvPr>
          <p:cNvSpPr txBox="1"/>
          <p:nvPr/>
        </p:nvSpPr>
        <p:spPr>
          <a:xfrm>
            <a:off x="508000" y="5461000"/>
            <a:ext cx="14986000" cy="9541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UPM bounds:</a:t>
            </a:r>
          </a:p>
          <a:p>
            <a:r>
              <a:rPr lang="en-US" sz="1400"/>
              <a:t>- TPI_UPM::UPM_X_SCREEN_K_START_X_X_X_X_FEM_CALC_UPM_FEM_LVT_FULLDIE_PDK0P9_0950MV_SORT_U1.U2: [0.782, 0.927]  N=31214</a:t>
            </a:r>
          </a:p>
          <a:p>
            <a:r>
              <a:rPr lang="en-US" sz="1400"/>
              <a:t>- UPM_0107_DPMH156P48ULVTINVD4_FULLDIE_0950_MED_SORT_U1.U5: [7610.024, 8420.868]  N=31449</a:t>
            </a:r>
          </a:p>
          <a:p>
            <a:r>
              <a:rPr lang="en-US" sz="1400"/>
              <a:t>- TPI_UPM::UPM_X_SCREEN_K_START_X_X_X_X_FEM_CALC_UPM_FEM_LVT_FULLDIE_PDK0P9_0950MV_SORT_U1.U4: [0.795, 0.924]  N=31449</a:t>
            </a:r>
          </a:p>
        </p:txBody>
      </p:sp>
    </p:spTree>
    <p:extLst>
      <p:ext uri="{BB962C8B-B14F-4D97-AF65-F5344CB8AC3E}">
        <p14:creationId xmlns:p14="http://schemas.microsoft.com/office/powerpoint/2010/main" val="1678709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D2193C-744F-A6AB-600D-312F5FA22CC2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Top Fits by R2 (Samples &gt;= 20)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F01B58-1E24-0AAA-6AB1-CF05B2BAC12F}"/>
              </a:ext>
            </a:extLst>
          </p:cNvPr>
          <p:cNvSpPr txBox="1"/>
          <p:nvPr/>
        </p:nvSpPr>
        <p:spPr>
          <a:xfrm>
            <a:off x="508000" y="1143000"/>
            <a:ext cx="15494000" cy="35394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Product | Die | Domain | Freq | Core | R2 | N | Vmin@Target</a:t>
            </a:r>
          </a:p>
          <a:p>
            <a:r>
              <a:rPr lang="en-US" sz="1400"/>
              <a:t>NVLPM | GTDIE | GT | 2.6 | 0 | 0.894 | 2587 | 0.882</a:t>
            </a:r>
          </a:p>
          <a:p>
            <a:r>
              <a:rPr lang="en-US" sz="1400"/>
              <a:t>NVLPM | GTDIE | GTVPG | 2.6 | 0 | 0.866 | 2587 | 0.843</a:t>
            </a:r>
          </a:p>
          <a:p>
            <a:r>
              <a:rPr lang="en-US" sz="1400"/>
              <a:t>NVLPM | GTDIE | GT | 2.2 | 0 | 0.845 | 2587 | 0.778</a:t>
            </a:r>
          </a:p>
          <a:p>
            <a:r>
              <a:rPr lang="en-US" sz="1400"/>
              <a:t>NVLPM | GTDIE | GTVPG | 2.2 | 0 | 0.826 | 2587 | 0.742</a:t>
            </a:r>
          </a:p>
          <a:p>
            <a:r>
              <a:rPr lang="en-US" sz="1400"/>
              <a:t>NVLPM | HUBDIE | SAPS | 0.75 | 0 | 0.821 | 2639 | 0.823</a:t>
            </a:r>
          </a:p>
          <a:p>
            <a:r>
              <a:rPr lang="en-US" sz="1400"/>
              <a:t>NVLPM | HUBDIE | SADPU | 2.2 | 0 | 0.821 | 2639 | 0.823</a:t>
            </a:r>
          </a:p>
          <a:p>
            <a:r>
              <a:rPr lang="en-US" sz="1400"/>
              <a:t>NVLPM | HUBDIE | SAME | 1.2 | 0 | 0.821 | 2639 | 0.823</a:t>
            </a:r>
          </a:p>
          <a:p>
            <a:r>
              <a:rPr lang="en-US" sz="1400"/>
              <a:t>NVLPM | HUBDIE | SAIOC | 0.75 | 0 | 0.821 | 2639 | 0.823</a:t>
            </a:r>
          </a:p>
          <a:p>
            <a:r>
              <a:rPr lang="en-US" sz="1400"/>
              <a:t>NVLPM | HUBDIE | SAN | 1.5 | 0 | 0.821 | 2639 | 0.823</a:t>
            </a:r>
          </a:p>
          <a:p>
            <a:r>
              <a:rPr lang="en-US" sz="1400"/>
              <a:t>NVLPM | HUBDIE | SAVPU | 1.257 | 0 | 0.821 | 2639 | 0.823</a:t>
            </a:r>
          </a:p>
          <a:p>
            <a:r>
              <a:rPr lang="en-US" sz="1400"/>
              <a:t>NVLPM | HUBDIE | SAC | 2.45 | 0 | 0.821 | 2639 | 0.823</a:t>
            </a:r>
          </a:p>
          <a:p>
            <a:r>
              <a:rPr lang="en-US" sz="1400"/>
              <a:t>NVLPM | HUBDIE | SAQ | 3 | 0 | 0.821 | 2639 | 0.823</a:t>
            </a:r>
          </a:p>
          <a:p>
            <a:r>
              <a:rPr lang="en-US" sz="1400"/>
              <a:t>NVLPM | HUBDIE | SACD | 0.787 | 0 | 0.821 | 2639 | 0.823</a:t>
            </a:r>
          </a:p>
          <a:p>
            <a:r>
              <a:rPr lang="en-US" sz="1400"/>
              <a:t>NVLPM | HUBDIE | SADPU | 2.5 | 0 | 0.785 | 2639 | 0.92</a:t>
            </a:r>
          </a:p>
          <a:p>
            <a:r>
              <a:rPr lang="en-US" sz="1400"/>
              <a:t>NVLPM | HUBDIE | SAC | 2.7 | 0 | 0.785 | 2639 | 0.92</a:t>
            </a:r>
          </a:p>
        </p:txBody>
      </p:sp>
    </p:spTree>
    <p:extLst>
      <p:ext uri="{BB962C8B-B14F-4D97-AF65-F5344CB8AC3E}">
        <p14:creationId xmlns:p14="http://schemas.microsoft.com/office/powerpoint/2010/main" val="2852324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14486A-2D11-D0C0-FB99-C3F62BE778BB}"/>
              </a:ext>
            </a:extLst>
          </p:cNvPr>
          <p:cNvSpPr txBox="1"/>
          <p:nvPr/>
        </p:nvSpPr>
        <p:spPr>
          <a:xfrm>
            <a:off x="381000" y="254000"/>
            <a:ext cx="1524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Product NVLHM: Normalized Vmin Table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3F56D7-196E-C449-B389-91B863682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519675"/>
              </p:ext>
            </p:extLst>
          </p:nvPr>
        </p:nvGraphicFramePr>
        <p:xfrm>
          <a:off x="381000" y="1142999"/>
          <a:ext cx="15748000" cy="73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000">
                  <a:extLst>
                    <a:ext uri="{9D8B030D-6E8A-4147-A177-3AD203B41FA5}">
                      <a16:colId xmlns:a16="http://schemas.microsoft.com/office/drawing/2014/main" val="3420641554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3496212908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459408372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3743378707"/>
                    </a:ext>
                  </a:extLst>
                </a:gridCol>
              </a:tblGrid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Freq (GHz)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366085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303271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400699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42334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855711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265355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239149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691288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516281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070440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340392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49966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504776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278103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940722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892727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31407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882193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93105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616073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622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4780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205486-DB73-A2EB-5A32-891F4B157036}"/>
              </a:ext>
            </a:extLst>
          </p:cNvPr>
          <p:cNvSpPr txBox="1"/>
          <p:nvPr/>
        </p:nvSpPr>
        <p:spPr>
          <a:xfrm>
            <a:off x="381000" y="254000"/>
            <a:ext cx="1524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Product NVLHX: Normalized Vmin Table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8E3918-EC32-4AE5-1096-ECEC3A0D6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425027"/>
              </p:ext>
            </p:extLst>
          </p:nvPr>
        </p:nvGraphicFramePr>
        <p:xfrm>
          <a:off x="381000" y="1142999"/>
          <a:ext cx="15748000" cy="73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000">
                  <a:extLst>
                    <a:ext uri="{9D8B030D-6E8A-4147-A177-3AD203B41FA5}">
                      <a16:colId xmlns:a16="http://schemas.microsoft.com/office/drawing/2014/main" val="4018310474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3526154811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1558989597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3379106892"/>
                    </a:ext>
                  </a:extLst>
                </a:gridCol>
              </a:tblGrid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Freq (GHz)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090533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374544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173273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320490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815970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751704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593257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726405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01502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294486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260369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74198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3884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88254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66130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69340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936765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66431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751295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066315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153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703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752D70-364C-4A78-7967-B68127C20303}"/>
              </a:ext>
            </a:extLst>
          </p:cNvPr>
          <p:cNvSpPr txBox="1"/>
          <p:nvPr/>
        </p:nvSpPr>
        <p:spPr>
          <a:xfrm>
            <a:off x="381000" y="254000"/>
            <a:ext cx="1524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Product NVLPM: Normalized Vmin Table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D337EA-AB33-3768-E70C-0861CDD0C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040181"/>
              </p:ext>
            </p:extLst>
          </p:nvPr>
        </p:nvGraphicFramePr>
        <p:xfrm>
          <a:off x="381000" y="1142999"/>
          <a:ext cx="15748000" cy="73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000">
                  <a:extLst>
                    <a:ext uri="{9D8B030D-6E8A-4147-A177-3AD203B41FA5}">
                      <a16:colId xmlns:a16="http://schemas.microsoft.com/office/drawing/2014/main" val="3578163883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1722188405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287159463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759469941"/>
                    </a:ext>
                  </a:extLst>
                </a:gridCol>
              </a:tblGrid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Freq (GHz)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957892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248218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662004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314880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476466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119030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668121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913917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672108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606786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43536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190197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143282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014698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664567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924423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7646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191250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227691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79723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174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733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749</Words>
  <Application>Microsoft Office PowerPoint</Application>
  <PresentationFormat>Widescreen</PresentationFormat>
  <Paragraphs>287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Markovits, Hodayah Hadar</dc:creator>
  <cp:lastModifiedBy>Markovits, Hodayah Hadar</cp:lastModifiedBy>
  <cp:revision>1</cp:revision>
  <dcterms:created xsi:type="dcterms:W3CDTF">2026-06-17T09:26:26Z</dcterms:created>
  <dcterms:modified xsi:type="dcterms:W3CDTF">2026-06-17T09:26:26Z</dcterms:modified>
</cp:coreProperties>
</file>